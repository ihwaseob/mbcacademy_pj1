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4" r:id="rId5"/>
  </p:sldMasterIdLst>
  <p:notesMasterIdLst>
    <p:notesMasterId r:id="rId10"/>
  </p:notesMasterIdLst>
  <p:sldIdLst>
    <p:sldId id="256" r:id="rId6"/>
    <p:sldId id="270" r:id="rId7"/>
    <p:sldId id="276" r:id="rId8"/>
    <p:sldId id="27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61FF"/>
    <a:srgbClr val="D8C5BF"/>
    <a:srgbClr val="2A5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49" autoAdjust="0"/>
    <p:restoredTop sz="91773" autoAdjust="0"/>
  </p:normalViewPr>
  <p:slideViewPr>
    <p:cSldViewPr snapToGrid="0">
      <p:cViewPr varScale="1">
        <p:scale>
          <a:sx n="65" d="100"/>
          <a:sy n="65" d="100"/>
        </p:scale>
        <p:origin x="540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5C65-FC5A-45A0-87C0-2CBB08A7F85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6DC7D-2864-4FF0-A379-F99E34084E8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4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8976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65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6DC7D-2864-4FF0-A379-F99E34084E8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00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04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3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424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4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511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90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525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97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8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9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965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E36D7-A6DB-416B-A246-35B787381E5F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294A24-2C2C-4C73-9AAD-BFCD126E2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079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871768-34A2-DDAA-D9DB-966EFD507B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4A2A584-43E5-9312-6C9A-0DB805ED22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0BB962-2D5A-66AF-9A01-0C1900D6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2337D-04B7-6940-C4E0-E5E49235F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D25972-39A7-E418-2DD0-57C51FB6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597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D6F4A0-1821-BD31-0EEB-58FF9A78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01E36C-AB3E-290C-85BD-75FA8668E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65520C-A0C5-DE6B-5719-DF2EAE0B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60957-877B-4388-9478-6026830C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80041-8F3D-A191-28B8-74EF39D2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01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5F86E0-0039-CCB8-3475-49C4EBC1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8D8E7C-A215-EB8C-FB2F-33FC861CB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9FEB84-D0C9-0533-CA55-8077DCDC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9ADD6-FAAD-F2B2-2CE9-B6C446730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FF356B-A076-E4A0-893B-25321846E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351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02D548-B425-4B1F-7FE2-439E5F475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40FE69-573E-18C5-73D4-3AD1577B6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9F4921-4E9F-2A4E-3206-00A16321B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914FD6-4807-6D9E-CF8B-DA37BD123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103550-E587-0461-8310-21CDC6F9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3D3E14-A95E-93BF-430D-61D1074F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788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5D4AD2-7DE2-E86F-4B07-D759AD9E9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5C7CB8-20FF-5CEE-CBDE-CC5674D87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D2BF89-657B-7D17-2DF6-9214CECC4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175CC9-B723-3112-B75E-68309CE46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1E371F-3D52-F7D8-B85F-FC799EF55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0E07BF3-4464-FB37-6CDE-6249A01E2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BAC6790-47CF-2628-365C-9EE63FF5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B6BB11-0A6D-1CF1-C0A5-F71010BA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759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AB945-09F0-636A-7739-45C854D2B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38C93D-840E-AD4E-48B7-1931E938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1774E7-92DE-37FB-6B2E-5430E593C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28DBB8-A003-A877-2E22-C4D381090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9886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A8DFB9-A9A0-05B5-EA4E-AF2C288BC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E62ADA-FF0B-0CE2-E369-6E6A586F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4BAFBB-07C5-0315-300B-FD6E3A0BB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9253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004FC-C88A-B922-4B1A-E0AA46A3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96FBF3-6ECC-CD8A-23E5-9E516D208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6F1354-EA2C-444A-870F-7BC1AA7E0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AEA33-0285-D09D-7B0C-4BFD1239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BBE5D1-7152-A9B9-46F8-FD23D806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F500F3-DF0E-EFAF-F55D-E101117D9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589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F6317-9ECB-A0A2-EBD7-A5D051BBA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67B152B-39AF-519C-6320-8D3746D57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1AA550-5870-240C-3516-BD6BC4F9A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FD855E-2FF1-3E0B-8AE7-F6D08910D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604D6D-46EC-C152-D95B-3234220D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E0F6D3-9444-7CA4-D65B-10386540F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577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91304-A053-26E9-D5F9-C80032874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AEAC54-E8CC-0C04-57E7-458EE7B9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650C6-5089-8487-E661-6CE8A504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7A5C45-3885-BD65-83D0-8650A34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75A496-9873-34DE-1F58-8648796E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7954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7BAA625-B403-625B-5559-F0B16D67C0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89D855-01D1-A923-A9D9-86F69255F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7FCF79-220B-0960-2C3B-2888A38A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413CA-992B-DCC2-6F50-A64AF97E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BDE1C-299D-7884-127E-E96E93B5D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999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D2DB5B9-FE18-6BE8-D06B-D46B1F9A5E73}"/>
              </a:ext>
            </a:extLst>
          </p:cNvPr>
          <p:cNvCxnSpPr>
            <a:cxnSpLocks/>
          </p:cNvCxnSpPr>
          <p:nvPr userDrawn="1"/>
        </p:nvCxnSpPr>
        <p:spPr>
          <a:xfrm>
            <a:off x="485775" y="809625"/>
            <a:ext cx="112014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9414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3279F5-43C9-C0B9-811D-5A24B434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9B689E-F6E6-5A50-4512-E5B67D345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34E5E3-0CEE-F119-939B-6F8CB2ECB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15227-B50A-4246-97B2-347A01CD05B7}" type="datetimeFigureOut">
              <a:rPr lang="ko-KR" altLang="en-US" smtClean="0"/>
              <a:t>2026-01-09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01040-AB08-C246-ADCA-73C5028C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FF3955-06F8-CABD-EEC9-6F5BEBCF9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1F85C2-861F-4EC8-A218-018C6AE4E4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427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23">
            <a:extLst>
              <a:ext uri="{FF2B5EF4-FFF2-40B4-BE49-F238E27FC236}">
                <a16:creationId xmlns:a16="http://schemas.microsoft.com/office/drawing/2014/main" id="{F9A14E2C-24E3-D6AF-765C-4AA17856D700}"/>
              </a:ext>
            </a:extLst>
          </p:cNvPr>
          <p:cNvGrpSpPr/>
          <p:nvPr/>
        </p:nvGrpSpPr>
        <p:grpSpPr>
          <a:xfrm>
            <a:off x="612095" y="0"/>
            <a:ext cx="10082768" cy="6858000"/>
            <a:chOff x="1134576" y="0"/>
            <a:chExt cx="10082768" cy="6858000"/>
          </a:xfrm>
          <a:solidFill>
            <a:schemeClr val="bg1">
              <a:lumMod val="85000"/>
            </a:schemeClr>
          </a:solidFill>
        </p:grpSpPr>
        <p:sp>
          <p:nvSpPr>
            <p:cNvPr id="3" name="Freeform 25">
              <a:extLst>
                <a:ext uri="{FF2B5EF4-FFF2-40B4-BE49-F238E27FC236}">
                  <a16:creationId xmlns:a16="http://schemas.microsoft.com/office/drawing/2014/main" id="{E413BCD0-E389-104D-B8BF-F4826CB8D9E1}"/>
                </a:ext>
              </a:extLst>
            </p:cNvPr>
            <p:cNvSpPr/>
            <p:nvPr/>
          </p:nvSpPr>
          <p:spPr>
            <a:xfrm>
              <a:off x="2415199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5" y="2291271"/>
                    <a:pt x="7245142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8" y="4619689"/>
                    <a:pt x="1896603" y="4757230"/>
                    <a:pt x="1588885" y="4875657"/>
                  </a:cubicBezTo>
                  <a:cubicBezTo>
                    <a:pt x="1091612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7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2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0" y="1641920"/>
                    <a:pt x="8775163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26">
              <a:extLst>
                <a:ext uri="{FF2B5EF4-FFF2-40B4-BE49-F238E27FC236}">
                  <a16:creationId xmlns:a16="http://schemas.microsoft.com/office/drawing/2014/main" id="{4F211E42-62FC-AFEE-4BE6-C18BDB6A998C}"/>
                </a:ext>
              </a:extLst>
            </p:cNvPr>
            <p:cNvSpPr/>
            <p:nvPr/>
          </p:nvSpPr>
          <p:spPr>
            <a:xfrm>
              <a:off x="1134576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8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6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8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8" y="1288733"/>
                    <a:pt x="8539029" y="1634554"/>
                    <a:pt x="8122160" y="1986852"/>
                  </a:cubicBezTo>
                  <a:cubicBezTo>
                    <a:pt x="7762024" y="2291271"/>
                    <a:pt x="7245143" y="2610676"/>
                    <a:pt x="6585856" y="2936177"/>
                  </a:cubicBezTo>
                  <a:cubicBezTo>
                    <a:pt x="5373262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0" y="1641856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6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 27">
              <a:extLst>
                <a:ext uri="{FF2B5EF4-FFF2-40B4-BE49-F238E27FC236}">
                  <a16:creationId xmlns:a16="http://schemas.microsoft.com/office/drawing/2014/main" id="{A385CB35-CD95-052C-A0E0-9FA337494A62}"/>
                </a:ext>
              </a:extLst>
            </p:cNvPr>
            <p:cNvSpPr/>
            <p:nvPr/>
          </p:nvSpPr>
          <p:spPr>
            <a:xfrm>
              <a:off x="1561471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3 w 8802145"/>
                <a:gd name="connsiteY18" fmla="*/ 2947543 h 6858000"/>
                <a:gd name="connsiteX19" fmla="*/ 8130347 w 8802145"/>
                <a:gd name="connsiteY19" fmla="*/ 1996504 h 6858000"/>
                <a:gd name="connsiteX20" fmla="*/ 8799850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8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3" y="83503"/>
                    <a:pt x="8458307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8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3" y="2947543"/>
                  </a:cubicBezTo>
                  <a:cubicBezTo>
                    <a:pt x="7251678" y="2621598"/>
                    <a:pt x="7769449" y="2301621"/>
                    <a:pt x="8130347" y="1996504"/>
                  </a:cubicBezTo>
                  <a:cubicBezTo>
                    <a:pt x="8549881" y="1641920"/>
                    <a:pt x="8775164" y="1293114"/>
                    <a:pt x="8799850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6" y="80836"/>
                    <a:pt x="8294518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28">
              <a:extLst>
                <a:ext uri="{FF2B5EF4-FFF2-40B4-BE49-F238E27FC236}">
                  <a16:creationId xmlns:a16="http://schemas.microsoft.com/office/drawing/2014/main" id="{BD80270E-39A3-E0B3-2ACF-65EF38C08291}"/>
                </a:ext>
              </a:extLst>
            </p:cNvPr>
            <p:cNvSpPr/>
            <p:nvPr/>
          </p:nvSpPr>
          <p:spPr>
            <a:xfrm>
              <a:off x="1988367" y="0"/>
              <a:ext cx="8802145" cy="6858000"/>
            </a:xfrm>
            <a:custGeom>
              <a:avLst/>
              <a:gdLst>
                <a:gd name="connsiteX0" fmla="*/ 8294581 w 8802145"/>
                <a:gd name="connsiteY0" fmla="*/ 0 h 6858000"/>
                <a:gd name="connsiteX1" fmla="*/ 8275099 w 8802145"/>
                <a:gd name="connsiteY1" fmla="*/ 0 h 6858000"/>
                <a:gd name="connsiteX2" fmla="*/ 8528177 w 8802145"/>
                <a:gd name="connsiteY2" fmla="*/ 252095 h 6858000"/>
                <a:gd name="connsiteX3" fmla="*/ 8787221 w 8802145"/>
                <a:gd name="connsiteY3" fmla="*/ 958977 h 6858000"/>
                <a:gd name="connsiteX4" fmla="*/ 8122160 w 8802145"/>
                <a:gd name="connsiteY4" fmla="*/ 1986852 h 6858000"/>
                <a:gd name="connsiteX5" fmla="*/ 6585856 w 8802145"/>
                <a:gd name="connsiteY5" fmla="*/ 2936177 h 6858000"/>
                <a:gd name="connsiteX6" fmla="*/ 2740558 w 8802145"/>
                <a:gd name="connsiteY6" fmla="*/ 4460494 h 6858000"/>
                <a:gd name="connsiteX7" fmla="*/ 1588885 w 8802145"/>
                <a:gd name="connsiteY7" fmla="*/ 4875657 h 6858000"/>
                <a:gd name="connsiteX8" fmla="*/ 439180 w 8802145"/>
                <a:gd name="connsiteY8" fmla="*/ 5523040 h 6858000"/>
                <a:gd name="connsiteX9" fmla="*/ 26245 w 8802145"/>
                <a:gd name="connsiteY9" fmla="*/ 6153722 h 6858000"/>
                <a:gd name="connsiteX10" fmla="*/ 81900 w 8802145"/>
                <a:gd name="connsiteY10" fmla="*/ 6757924 h 6858000"/>
                <a:gd name="connsiteX11" fmla="*/ 131081 w 8802145"/>
                <a:gd name="connsiteY11" fmla="*/ 6858000 h 6858000"/>
                <a:gd name="connsiteX12" fmla="*/ 145614 w 8802145"/>
                <a:gd name="connsiteY12" fmla="*/ 6858000 h 6858000"/>
                <a:gd name="connsiteX13" fmla="*/ 93323 w 8802145"/>
                <a:gd name="connsiteY13" fmla="*/ 6752463 h 6858000"/>
                <a:gd name="connsiteX14" fmla="*/ 38620 w 8802145"/>
                <a:gd name="connsiteY14" fmla="*/ 6156579 h 6858000"/>
                <a:gd name="connsiteX15" fmla="*/ 447810 w 8802145"/>
                <a:gd name="connsiteY15" fmla="*/ 5532374 h 6858000"/>
                <a:gd name="connsiteX16" fmla="*/ 1593518 w 8802145"/>
                <a:gd name="connsiteY16" fmla="*/ 4887468 h 6858000"/>
                <a:gd name="connsiteX17" fmla="*/ 2744810 w 8802145"/>
                <a:gd name="connsiteY17" fmla="*/ 4472432 h 6858000"/>
                <a:gd name="connsiteX18" fmla="*/ 6591504 w 8802145"/>
                <a:gd name="connsiteY18" fmla="*/ 2947543 h 6858000"/>
                <a:gd name="connsiteX19" fmla="*/ 8130346 w 8802145"/>
                <a:gd name="connsiteY19" fmla="*/ 1996504 h 6858000"/>
                <a:gd name="connsiteX20" fmla="*/ 8799849 w 8802145"/>
                <a:gd name="connsiteY20" fmla="*/ 959866 h 6858000"/>
                <a:gd name="connsiteX21" fmla="*/ 8537887 w 8802145"/>
                <a:gd name="connsiteY21" fmla="*/ 243967 h 6858000"/>
                <a:gd name="connsiteX22" fmla="*/ 8294517 w 8802145"/>
                <a:gd name="connsiteY22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802145" h="6858000">
                  <a:moveTo>
                    <a:pt x="8294581" y="0"/>
                  </a:moveTo>
                  <a:lnTo>
                    <a:pt x="8275099" y="0"/>
                  </a:lnTo>
                  <a:cubicBezTo>
                    <a:pt x="8373842" y="83503"/>
                    <a:pt x="8458308" y="167640"/>
                    <a:pt x="8528177" y="252095"/>
                  </a:cubicBezTo>
                  <a:cubicBezTo>
                    <a:pt x="8717859" y="481267"/>
                    <a:pt x="8804990" y="719138"/>
                    <a:pt x="8787221" y="958977"/>
                  </a:cubicBezTo>
                  <a:cubicBezTo>
                    <a:pt x="8762789" y="1288733"/>
                    <a:pt x="8539029" y="1634554"/>
                    <a:pt x="8122160" y="1986852"/>
                  </a:cubicBezTo>
                  <a:cubicBezTo>
                    <a:pt x="7762024" y="2291271"/>
                    <a:pt x="7245142" y="2610676"/>
                    <a:pt x="6585856" y="2936177"/>
                  </a:cubicBezTo>
                  <a:cubicBezTo>
                    <a:pt x="5373261" y="3534918"/>
                    <a:pt x="3913490" y="4048125"/>
                    <a:pt x="2740558" y="4460494"/>
                  </a:cubicBezTo>
                  <a:cubicBezTo>
                    <a:pt x="2287707" y="4619689"/>
                    <a:pt x="1896603" y="4757166"/>
                    <a:pt x="1588885" y="4875657"/>
                  </a:cubicBezTo>
                  <a:cubicBezTo>
                    <a:pt x="1091613" y="5067110"/>
                    <a:pt x="704824" y="5284915"/>
                    <a:pt x="439180" y="5523040"/>
                  </a:cubicBezTo>
                  <a:cubicBezTo>
                    <a:pt x="219735" y="5719763"/>
                    <a:pt x="80821" y="5931916"/>
                    <a:pt x="26245" y="6153722"/>
                  </a:cubicBezTo>
                  <a:cubicBezTo>
                    <a:pt x="-35120" y="6403086"/>
                    <a:pt x="22628" y="6619939"/>
                    <a:pt x="81900" y="6757924"/>
                  </a:cubicBezTo>
                  <a:cubicBezTo>
                    <a:pt x="97828" y="6795008"/>
                    <a:pt x="114709" y="6828536"/>
                    <a:pt x="131081" y="6858000"/>
                  </a:cubicBezTo>
                  <a:lnTo>
                    <a:pt x="145614" y="6858000"/>
                  </a:lnTo>
                  <a:cubicBezTo>
                    <a:pt x="128289" y="6827266"/>
                    <a:pt x="110266" y="6791897"/>
                    <a:pt x="93323" y="6752463"/>
                  </a:cubicBezTo>
                  <a:cubicBezTo>
                    <a:pt x="-12465" y="6505766"/>
                    <a:pt x="5177" y="6292279"/>
                    <a:pt x="38620" y="6156579"/>
                  </a:cubicBezTo>
                  <a:cubicBezTo>
                    <a:pt x="92625" y="5937314"/>
                    <a:pt x="230269" y="5727319"/>
                    <a:pt x="447810" y="5532374"/>
                  </a:cubicBezTo>
                  <a:cubicBezTo>
                    <a:pt x="712312" y="5295329"/>
                    <a:pt x="1097768" y="5078349"/>
                    <a:pt x="1593518" y="4887468"/>
                  </a:cubicBezTo>
                  <a:cubicBezTo>
                    <a:pt x="1901045" y="4769104"/>
                    <a:pt x="2292086" y="4631627"/>
                    <a:pt x="2744810" y="4472432"/>
                  </a:cubicBezTo>
                  <a:cubicBezTo>
                    <a:pt x="3918059" y="4059936"/>
                    <a:pt x="5378211" y="3546602"/>
                    <a:pt x="6591504" y="2947543"/>
                  </a:cubicBezTo>
                  <a:cubicBezTo>
                    <a:pt x="7251679" y="2621598"/>
                    <a:pt x="7769449" y="2301621"/>
                    <a:pt x="8130346" y="1996504"/>
                  </a:cubicBezTo>
                  <a:cubicBezTo>
                    <a:pt x="8549881" y="1641920"/>
                    <a:pt x="8775164" y="1293114"/>
                    <a:pt x="8799849" y="959866"/>
                  </a:cubicBezTo>
                  <a:cubicBezTo>
                    <a:pt x="8817872" y="716598"/>
                    <a:pt x="8729726" y="475742"/>
                    <a:pt x="8537887" y="243967"/>
                  </a:cubicBezTo>
                  <a:cubicBezTo>
                    <a:pt x="8470238" y="162243"/>
                    <a:pt x="8388945" y="80836"/>
                    <a:pt x="8294517" y="0"/>
                  </a:cubicBezTo>
                  <a:close/>
                </a:path>
              </a:pathLst>
            </a:custGeom>
            <a:grpFill/>
            <a:ln w="63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05B09D7A-C1F7-5CB3-E676-6FB4353E3D21}"/>
              </a:ext>
            </a:extLst>
          </p:cNvPr>
          <p:cNvSpPr/>
          <p:nvPr/>
        </p:nvSpPr>
        <p:spPr>
          <a:xfrm>
            <a:off x="10441499" y="4284009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FE500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E5863280-4F82-6913-FE1A-3F10AF65B031}"/>
              </a:ext>
            </a:extLst>
          </p:cNvPr>
          <p:cNvSpPr/>
          <p:nvPr/>
        </p:nvSpPr>
        <p:spPr>
          <a:xfrm>
            <a:off x="10606234" y="1764956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97844AEC-039F-A21D-4FD6-DFDA781C4338}"/>
              </a:ext>
            </a:extLst>
          </p:cNvPr>
          <p:cNvSpPr/>
          <p:nvPr/>
        </p:nvSpPr>
        <p:spPr>
          <a:xfrm rot="5400000">
            <a:off x="4598049" y="5702410"/>
            <a:ext cx="830235" cy="426649"/>
          </a:xfrm>
          <a:custGeom>
            <a:avLst/>
            <a:gdLst>
              <a:gd name="connsiteX0" fmla="*/ 1440 w 1028700"/>
              <a:gd name="connsiteY0" fmla="*/ 0 h 528638"/>
              <a:gd name="connsiteX1" fmla="*/ 1027260 w 1028700"/>
              <a:gd name="connsiteY1" fmla="*/ 0 h 528638"/>
              <a:gd name="connsiteX2" fmla="*/ 1028700 w 1028700"/>
              <a:gd name="connsiteY2" fmla="*/ 14288 h 528638"/>
              <a:gd name="connsiteX3" fmla="*/ 514350 w 1028700"/>
              <a:gd name="connsiteY3" fmla="*/ 528638 h 528638"/>
              <a:gd name="connsiteX4" fmla="*/ 0 w 1028700"/>
              <a:gd name="connsiteY4" fmla="*/ 14288 h 528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28638">
                <a:moveTo>
                  <a:pt x="1440" y="0"/>
                </a:moveTo>
                <a:lnTo>
                  <a:pt x="1027260" y="0"/>
                </a:lnTo>
                <a:lnTo>
                  <a:pt x="1028700" y="14288"/>
                </a:lnTo>
                <a:cubicBezTo>
                  <a:pt x="1028700" y="298356"/>
                  <a:pt x="798418" y="528638"/>
                  <a:pt x="514350" y="528638"/>
                </a:cubicBezTo>
                <a:cubicBezTo>
                  <a:pt x="230282" y="528638"/>
                  <a:pt x="0" y="298356"/>
                  <a:pt x="0" y="14288"/>
                </a:cubicBezTo>
                <a:close/>
              </a:path>
            </a:pathLst>
          </a:custGeom>
          <a:solidFill>
            <a:srgbClr val="593AC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19" name="Oval 14">
            <a:extLst>
              <a:ext uri="{FF2B5EF4-FFF2-40B4-BE49-F238E27FC236}">
                <a16:creationId xmlns:a16="http://schemas.microsoft.com/office/drawing/2014/main" id="{52546999-44EA-3899-E452-50520C3669CA}"/>
              </a:ext>
            </a:extLst>
          </p:cNvPr>
          <p:cNvSpPr/>
          <p:nvPr/>
        </p:nvSpPr>
        <p:spPr>
          <a:xfrm>
            <a:off x="2091951" y="4219308"/>
            <a:ext cx="205567" cy="205567"/>
          </a:xfrm>
          <a:prstGeom prst="ellipse">
            <a:avLst/>
          </a:prstGeom>
          <a:solidFill>
            <a:srgbClr val="FEC10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us Jakarta Sans" panose="020B0602020104020603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E84CF-29C5-5E08-0254-ECB6906FBAFD}"/>
              </a:ext>
            </a:extLst>
          </p:cNvPr>
          <p:cNvSpPr txBox="1"/>
          <p:nvPr/>
        </p:nvSpPr>
        <p:spPr>
          <a:xfrm>
            <a:off x="808346" y="1127373"/>
            <a:ext cx="8965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latin typeface="+mn-ea"/>
              </a:rPr>
              <a:t>사고의 심각정도</a:t>
            </a:r>
            <a:r>
              <a:rPr lang="en-US" altLang="ko-KR" sz="3600" b="1" dirty="0">
                <a:latin typeface="+mn-ea"/>
              </a:rPr>
              <a:t>(</a:t>
            </a:r>
            <a:r>
              <a:rPr lang="ko-KR" altLang="en-US" sz="3600" b="1" dirty="0">
                <a:latin typeface="+mn-ea"/>
              </a:rPr>
              <a:t>낮음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보통</a:t>
            </a:r>
            <a:r>
              <a:rPr lang="en-US" altLang="ko-KR" sz="3600" b="1" dirty="0">
                <a:latin typeface="+mn-ea"/>
              </a:rPr>
              <a:t>·</a:t>
            </a:r>
            <a:r>
              <a:rPr lang="ko-KR" altLang="en-US" sz="3600" b="1" dirty="0">
                <a:latin typeface="+mn-ea"/>
              </a:rPr>
              <a:t>심각</a:t>
            </a:r>
            <a:r>
              <a:rPr lang="en-US" altLang="ko-KR" sz="3600" b="1" dirty="0">
                <a:latin typeface="+mn-ea"/>
              </a:rPr>
              <a:t>)</a:t>
            </a:r>
            <a:r>
              <a:rPr lang="ko-KR" altLang="en-US" sz="3600" b="1" dirty="0">
                <a:latin typeface="+mn-ea"/>
              </a:rPr>
              <a:t>를 분류하고</a:t>
            </a:r>
            <a:r>
              <a:rPr lang="en-US" altLang="ko-KR" sz="3600" b="1" dirty="0">
                <a:latin typeface="+mn-ea"/>
              </a:rPr>
              <a:t> </a:t>
            </a:r>
            <a:r>
              <a:rPr lang="ko-KR" altLang="en-US" sz="3600" b="1" dirty="0">
                <a:latin typeface="+mn-ea"/>
              </a:rPr>
              <a:t>심각도 예측</a:t>
            </a:r>
          </a:p>
        </p:txBody>
      </p:sp>
    </p:spTree>
    <p:extLst>
      <p:ext uri="{BB962C8B-B14F-4D97-AF65-F5344CB8AC3E}">
        <p14:creationId xmlns:p14="http://schemas.microsoft.com/office/powerpoint/2010/main" val="1251008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repeatCount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97BF9E-8403-E2D5-A490-3BB12B939E11}"/>
              </a:ext>
            </a:extLst>
          </p:cNvPr>
          <p:cNvSpPr txBox="1"/>
          <p:nvPr/>
        </p:nvSpPr>
        <p:spPr>
          <a:xfrm>
            <a:off x="917945" y="1002131"/>
            <a:ext cx="6746240" cy="703590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사고당 사망률과 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CCTV</a:t>
            </a:r>
            <a:r>
              <a:rPr lang="ko-KR" altLang="en-US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설치 대수는 상관이 낮음</a:t>
            </a:r>
            <a:r>
              <a:rPr lang="en-US" altLang="ko-KR" b="1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en-US" altLang="ko-KR" sz="2000" b="1" dirty="0">
              <a:highlight>
                <a:srgbClr val="FFFFFF"/>
              </a:highlight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28EC63-82FF-B2A1-1587-A1429DD40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945" y="1893098"/>
            <a:ext cx="6119390" cy="444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98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47CF09-CE03-2A0E-08C1-C7C7C5C91990}"/>
              </a:ext>
            </a:extLst>
          </p:cNvPr>
          <p:cNvSpPr txBox="1"/>
          <p:nvPr/>
        </p:nvSpPr>
        <p:spPr>
          <a:xfrm>
            <a:off x="2209464" y="958646"/>
            <a:ext cx="7377443" cy="648928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defRPr b="1" kern="10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ko-KR" altLang="en-US" dirty="0"/>
              <a:t>사망자수</a:t>
            </a:r>
            <a:r>
              <a:rPr lang="en-US" altLang="ko-KR" dirty="0"/>
              <a:t>(</a:t>
            </a:r>
            <a:r>
              <a:rPr lang="ko-KR" altLang="en-US" dirty="0"/>
              <a:t>명</a:t>
            </a:r>
            <a:r>
              <a:rPr lang="en-US" altLang="ko-KR" dirty="0"/>
              <a:t>)', '</a:t>
            </a:r>
            <a:r>
              <a:rPr lang="ko-KR" altLang="en-US" dirty="0"/>
              <a:t>발생건수</a:t>
            </a:r>
            <a:r>
              <a:rPr lang="en-US" altLang="ko-KR" dirty="0"/>
              <a:t>(</a:t>
            </a:r>
            <a:r>
              <a:rPr lang="ko-KR" altLang="en-US" dirty="0"/>
              <a:t>건</a:t>
            </a:r>
            <a:r>
              <a:rPr lang="en-US" altLang="ko-KR" dirty="0"/>
              <a:t>)', '</a:t>
            </a:r>
            <a:r>
              <a:rPr lang="ko-KR" altLang="en-US" dirty="0"/>
              <a:t>부상자수</a:t>
            </a:r>
            <a:r>
              <a:rPr lang="en-US" altLang="ko-KR" dirty="0"/>
              <a:t>(</a:t>
            </a:r>
            <a:r>
              <a:rPr lang="ko-KR" altLang="en-US" dirty="0"/>
              <a:t>명</a:t>
            </a:r>
            <a:r>
              <a:rPr lang="en-US" altLang="ko-KR" dirty="0"/>
              <a:t>)',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    '</a:t>
            </a:r>
            <a:r>
              <a:rPr lang="ko-KR" altLang="en-US" dirty="0" err="1"/>
              <a:t>사고당사망률</a:t>
            </a:r>
            <a:r>
              <a:rPr lang="en-US" altLang="ko-KR" dirty="0"/>
              <a:t>', '</a:t>
            </a:r>
            <a:r>
              <a:rPr lang="ko-KR" altLang="en-US" dirty="0" err="1"/>
              <a:t>사고당부상률</a:t>
            </a:r>
            <a:r>
              <a:rPr lang="en-US" altLang="ko-KR" dirty="0"/>
              <a:t>', 'CCTV</a:t>
            </a:r>
            <a:r>
              <a:rPr lang="ko-KR" altLang="en-US" dirty="0"/>
              <a:t>설치대수</a:t>
            </a:r>
            <a:r>
              <a:rPr lang="en-US" altLang="ko-KR" dirty="0"/>
              <a:t>’ </a:t>
            </a:r>
            <a:r>
              <a:rPr lang="ko-KR" altLang="en-US" dirty="0"/>
              <a:t>히스토그램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6A5CBB-7B5C-2084-C4AA-ED960CFAC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51" y="1701369"/>
            <a:ext cx="7377442" cy="49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4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33A17B-973B-DC42-D81C-7C122E59F02F}"/>
              </a:ext>
            </a:extLst>
          </p:cNvPr>
          <p:cNvSpPr txBox="1"/>
          <p:nvPr/>
        </p:nvSpPr>
        <p:spPr>
          <a:xfrm>
            <a:off x="576769" y="291534"/>
            <a:ext cx="77798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bg1">
                    <a:lumMod val="65000"/>
                  </a:schemeClr>
                </a:solidFill>
              </a:rPr>
              <a:t>프로젝트 수행 </a:t>
            </a:r>
            <a:r>
              <a:rPr lang="en-US" altLang="ko-KR" sz="2800" b="1" dirty="0">
                <a:solidFill>
                  <a:schemeClr val="bg1">
                    <a:lumMod val="65000"/>
                  </a:schemeClr>
                </a:solidFill>
              </a:rPr>
              <a:t>- EDA</a:t>
            </a:r>
            <a:endParaRPr lang="ko-KR" altLang="en-US" sz="2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D53BD02-1976-AD95-3E75-B106ACAAB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301" y="1021714"/>
            <a:ext cx="7032174" cy="5683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37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53273AA82447340AD3575D3659BD6CB" ma:contentTypeVersion="4" ma:contentTypeDescription="새 문서를 만듭니다." ma:contentTypeScope="" ma:versionID="d49374ce17ba482acf15c8aa845840e6">
  <xsd:schema xmlns:xsd="http://www.w3.org/2001/XMLSchema" xmlns:xs="http://www.w3.org/2001/XMLSchema" xmlns:p="http://schemas.microsoft.com/office/2006/metadata/properties" xmlns:ns3="6a1ad35f-000f-46f4-89b8-a39dbf665e50" targetNamespace="http://schemas.microsoft.com/office/2006/metadata/properties" ma:root="true" ma:fieldsID="858b35afe223a2f0b026d40c3ee9bbdb" ns3:_="">
    <xsd:import namespace="6a1ad35f-000f-46f4-89b8-a39dbf665e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1ad35f-000f-46f4-89b8-a39dbf665e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AF83DAC-1FDD-4972-B2AB-FED6764C3C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1ad35f-000f-46f4-89b8-a39dbf665e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81D23D-0E8A-4078-8D49-C25C209F4D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C628B7-6C97-497A-8E25-291AA5473F4D}">
  <ds:schemaRefs>
    <ds:schemaRef ds:uri="http://schemas.openxmlformats.org/package/2006/metadata/core-properties"/>
    <ds:schemaRef ds:uri="6a1ad35f-000f-46f4-89b8-a39dbf665e50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1358</TotalTime>
  <Words>62</Words>
  <Application>Microsoft Office PowerPoint</Application>
  <PresentationFormat>와이드스크린</PresentationFormat>
  <Paragraphs>10</Paragraphs>
  <Slides>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Plus Jakarta Sans</vt:lpstr>
      <vt:lpstr>맑은 고딕</vt:lpstr>
      <vt:lpstr>Arial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성열 최</dc:creator>
  <cp:lastModifiedBy>User</cp:lastModifiedBy>
  <cp:revision>39</cp:revision>
  <dcterms:created xsi:type="dcterms:W3CDTF">2024-07-06T13:34:13Z</dcterms:created>
  <dcterms:modified xsi:type="dcterms:W3CDTF">2026-01-09T04:07:22Z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0x010100153273AA82447340AD3575D3659BD6CB</vt:lpwstr>
  </property>
</Properties>
</file>